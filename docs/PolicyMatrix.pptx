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3" d="100"/>
          <a:sy n="123" d="100"/>
        </p:scale>
        <p:origin x="298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8145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4.png"/><Relationship Id="rId5" Type="http://schemas.openxmlformats.org/officeDocument/2006/relationships/image" Target="../media/image8.png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914400" y="3474720"/>
            <a:ext cx="3200400" cy="32004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640080"/>
            <a:ext cx="3474720" cy="347472"/>
          </a:xfrm>
          <a:prstGeom prst="roundRect">
            <a:avLst>
              <a:gd name="adj" fmla="val 3947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AI-POWERED HEALTHCARE POLICY PLATFORM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Matrix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Healthcare Policy Comparison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090672"/>
            <a:ext cx="22860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3520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Rakshith Vellulla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32918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83280" y="3520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Hackathon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32918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217920" y="3520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809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E8EE"/>
                </a:solidFill>
              </a:rPr>
              <a:t>Cotiviti Hackathon  |  June 2026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organizations frequently update reimbursement and policy documents — creating significant operational burdens.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755648"/>
            <a:ext cx="1591056" cy="256032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755648"/>
            <a:ext cx="1591056" cy="502920"/>
          </a:xfrm>
          <a:prstGeom prst="roundRect">
            <a:avLst>
              <a:gd name="adj" fmla="val 21818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745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377440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Comparison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84048" y="2779776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Tedious, line-by-line review of lengthy PDF documents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956816" y="1755648"/>
            <a:ext cx="1591056" cy="256032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956816" y="1755648"/>
            <a:ext cx="1591056" cy="502920"/>
          </a:xfrm>
          <a:prstGeom prst="roundRect">
            <a:avLst>
              <a:gd name="adj" fmla="val 2181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76" y="18745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48256" y="2377440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Overruns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066544" y="2779776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processes consume disproportionate analyst hours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639312" y="1755648"/>
            <a:ext cx="1591056" cy="256032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3639312" y="1755648"/>
            <a:ext cx="1591056" cy="502920"/>
          </a:xfrm>
          <a:prstGeom prst="roundRect">
            <a:avLst>
              <a:gd name="adj" fmla="val 21818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3672" y="187452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730752" y="2377440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Changes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3749040" y="2779776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policy updates overlooked under document volume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321808" y="1755648"/>
            <a:ext cx="1591056" cy="256032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5321808" y="1755648"/>
            <a:ext cx="1591056" cy="502920"/>
          </a:xfrm>
          <a:prstGeom prst="roundRect">
            <a:avLst>
              <a:gd name="adj" fmla="val 2181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6168" y="187452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13248" y="2377440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Overhead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31536" y="2779776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administrative effort across compliance teams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004304" y="1755648"/>
            <a:ext cx="1591056" cy="256032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7004304" y="1755648"/>
            <a:ext cx="1591056" cy="502920"/>
          </a:xfrm>
          <a:prstGeom prst="roundRect">
            <a:avLst>
              <a:gd name="adj" fmla="val 21818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8664" y="1874520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095744" y="2377440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Reimbursement Errors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7114032" y="2779776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inaccuracies due to untracked policy changes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274320" y="4480560"/>
            <a:ext cx="8595360" cy="502920"/>
          </a:xfrm>
          <a:prstGeom prst="roundRect">
            <a:avLst>
              <a:gd name="adj" fmla="val 18182"/>
            </a:avLst>
          </a:prstGeom>
          <a:solidFill>
            <a:srgbClr val="0A2342">
              <a:alpha val="92000"/>
            </a:srgbClr>
          </a:solidFill>
          <a:ln w="12700">
            <a:solidFill>
              <a:srgbClr val="0A2342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274320" y="44805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These challenges reduce operational efficiency and increase compliance risks across healthcare organizations.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Matrix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Proposed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2618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web application that automates healthcare policy comparison — reducing manual effort while improving decision-making.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" y="187452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013B47"/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22199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8408" y="21031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78408" y="24231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previous and updated policy documents instantly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054096" y="187452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013B47"/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6976" y="2221992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39896" y="21031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739896" y="24231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extraction via PyMuPDF — no manual copy-paste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815584" y="187452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013B47"/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8464" y="2221992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01384" y="21031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Detection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501384" y="24231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identification of additions and removals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292608" y="3419856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013B47"/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3767328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78408" y="364845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Summaries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978408" y="3968496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generates executive summaries and impact analysis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3054096" y="3419856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013B47"/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6976" y="3767328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739896" y="364845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Export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3739896" y="3968496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professional PDF report generation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5815584" y="3419856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013B47"/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8464" y="3767328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501384" y="364845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6501384" y="3968496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analytics dashboard for policy statistics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8E8EE"/>
                </a:solidFill>
              </a:rPr>
              <a:t>04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1965960" cy="374904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1965960" cy="1188720"/>
          </a:xfrm>
          <a:prstGeom prst="roundRect">
            <a:avLst>
              <a:gd name="adj" fmla="val 10769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389888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07568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532888"/>
            <a:ext cx="1600200" cy="530352"/>
          </a:xfrm>
          <a:prstGeom prst="roundRect">
            <a:avLst>
              <a:gd name="adj" fmla="val 13793"/>
            </a:avLst>
          </a:prstGeom>
          <a:solidFill>
            <a:srgbClr val="F0F7F8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40" y="253288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218688"/>
            <a:ext cx="1600200" cy="530352"/>
          </a:xfrm>
          <a:prstGeom prst="roundRect">
            <a:avLst>
              <a:gd name="adj" fmla="val 13793"/>
            </a:avLst>
          </a:prstGeom>
          <a:solidFill>
            <a:srgbClr val="F0F7F8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8640" y="321868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904488"/>
            <a:ext cx="1600200" cy="530352"/>
          </a:xfrm>
          <a:prstGeom prst="roundRect">
            <a:avLst>
              <a:gd name="adj" fmla="val 13793"/>
            </a:avLst>
          </a:prstGeom>
          <a:solidFill>
            <a:srgbClr val="F0F7F8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48640" y="390448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65760" y="459028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· Scalable · Production-Ready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2487168" y="1207008"/>
            <a:ext cx="1965960" cy="374904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487168" y="1207008"/>
            <a:ext cx="1965960" cy="1188720"/>
          </a:xfrm>
          <a:prstGeom prst="roundRect">
            <a:avLst>
              <a:gd name="adj" fmla="val 10769"/>
            </a:avLst>
          </a:prstGeom>
          <a:solidFill>
            <a:srgbClr val="014F40"/>
          </a:solidFill>
          <a:ln w="12700">
            <a:solidFill>
              <a:srgbClr val="014F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0108" y="1389888"/>
            <a:ext cx="640080" cy="6400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578608" y="207568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2670048" y="2532888"/>
            <a:ext cx="1600200" cy="530352"/>
          </a:xfrm>
          <a:prstGeom prst="roundRect">
            <a:avLst>
              <a:gd name="adj" fmla="val 13793"/>
            </a:avLst>
          </a:prstGeom>
          <a:solidFill>
            <a:srgbClr val="F0F7F8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2670048" y="253288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2670048" y="3218688"/>
            <a:ext cx="1600200" cy="530352"/>
          </a:xfrm>
          <a:prstGeom prst="roundRect">
            <a:avLst>
              <a:gd name="adj" fmla="val 13793"/>
            </a:avLst>
          </a:prstGeom>
          <a:solidFill>
            <a:srgbClr val="F0F7F8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2670048" y="321868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2487168" y="459028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· Scalable · Production-Ready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4608576" y="1207008"/>
            <a:ext cx="1965960" cy="374904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4608576" y="1207008"/>
            <a:ext cx="1965960" cy="1188720"/>
          </a:xfrm>
          <a:prstGeom prst="roundRect">
            <a:avLst>
              <a:gd name="adj" fmla="val 10769"/>
            </a:avLst>
          </a:prstGeom>
          <a:solidFill>
            <a:srgbClr val="3D0000"/>
          </a:solidFill>
          <a:ln w="12700">
            <a:solidFill>
              <a:srgbClr val="3D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1516" y="1389888"/>
            <a:ext cx="640080" cy="64008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700016" y="207568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4791456" y="2532888"/>
            <a:ext cx="1600200" cy="530352"/>
          </a:xfrm>
          <a:prstGeom prst="roundRect">
            <a:avLst>
              <a:gd name="adj" fmla="val 13793"/>
            </a:avLst>
          </a:prstGeom>
          <a:solidFill>
            <a:srgbClr val="F0F7F8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4791456" y="253288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4608576" y="459028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· Scalable · Production-Ready</a:t>
            </a:r>
            <a:endParaRPr lang="en-US" sz="750" dirty="0"/>
          </a:p>
        </p:txBody>
      </p:sp>
      <p:sp>
        <p:nvSpPr>
          <p:cNvPr id="32" name="Shape 27"/>
          <p:cNvSpPr/>
          <p:nvPr/>
        </p:nvSpPr>
        <p:spPr>
          <a:xfrm>
            <a:off x="6729984" y="1207008"/>
            <a:ext cx="1965960" cy="374904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6729984" y="1207008"/>
            <a:ext cx="1965960" cy="1188720"/>
          </a:xfrm>
          <a:prstGeom prst="roundRect">
            <a:avLst>
              <a:gd name="adj" fmla="val 10769"/>
            </a:avLst>
          </a:prstGeom>
          <a:solidFill>
            <a:srgbClr val="3D2600"/>
          </a:solidFill>
          <a:ln w="12700">
            <a:solidFill>
              <a:srgbClr val="3D2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2924" y="1389888"/>
            <a:ext cx="640080" cy="64008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821424" y="207568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Tools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6912864" y="2532888"/>
            <a:ext cx="1600200" cy="530352"/>
          </a:xfrm>
          <a:prstGeom prst="roundRect">
            <a:avLst>
              <a:gd name="adj" fmla="val 13793"/>
            </a:avLst>
          </a:prstGeom>
          <a:solidFill>
            <a:srgbClr val="F0F7F8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/>
          <p:nvPr/>
        </p:nvSpPr>
        <p:spPr>
          <a:xfrm>
            <a:off x="6912864" y="253288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6912864" y="3218688"/>
            <a:ext cx="1600200" cy="530352"/>
          </a:xfrm>
          <a:prstGeom prst="roundRect">
            <a:avLst>
              <a:gd name="adj" fmla="val 13793"/>
            </a:avLst>
          </a:prstGeom>
          <a:solidFill>
            <a:srgbClr val="F0F7F8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/>
          <p:nvPr/>
        </p:nvSpPr>
        <p:spPr>
          <a:xfrm>
            <a:off x="6912864" y="321868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jsPDF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6729984" y="459028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· Scalable · Production-Ready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Workflow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System Design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-91440" y="1207008"/>
            <a:ext cx="1371600" cy="324612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-91440" y="1371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7160" y="1865376"/>
            <a:ext cx="91440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-18288" y="1956816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0" y="2505456"/>
            <a:ext cx="1188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previous &amp; updated policy documents</a:t>
            </a:r>
            <a:endParaRPr lang="en-US" sz="9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2665476"/>
            <a:ext cx="201168" cy="32918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499616" y="1207008"/>
            <a:ext cx="1371600" cy="3246120"/>
          </a:xfrm>
          <a:prstGeom prst="roundRect">
            <a:avLst>
              <a:gd name="adj" fmla="val 8000"/>
            </a:avLst>
          </a:prstGeom>
          <a:solidFill>
            <a:srgbClr val="013B47"/>
          </a:solidFill>
          <a:ln w="12700">
            <a:solidFill>
              <a:srgbClr val="013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499616" y="1371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1728216" y="1865376"/>
            <a:ext cx="91440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572768" y="1956816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591056" y="2505456"/>
            <a:ext cx="1188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extracts content via PyMuPDF</a:t>
            </a:r>
            <a:endParaRPr lang="en-US" sz="9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504" y="2665476"/>
            <a:ext cx="201168" cy="32918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090672" y="1207008"/>
            <a:ext cx="1371600" cy="324612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3090672" y="1371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3319272" y="1865376"/>
            <a:ext cx="91440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3163824" y="1956816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Analysis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182112" y="2505456"/>
            <a:ext cx="1188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identifies additions &amp; removals</a:t>
            </a:r>
            <a:endParaRPr lang="en-US" sz="95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2665476"/>
            <a:ext cx="201168" cy="32918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681728" y="1207008"/>
            <a:ext cx="1371600" cy="3246120"/>
          </a:xfrm>
          <a:prstGeom prst="roundRect">
            <a:avLst>
              <a:gd name="adj" fmla="val 8000"/>
            </a:avLst>
          </a:prstGeom>
          <a:solidFill>
            <a:srgbClr val="013B47"/>
          </a:solidFill>
          <a:ln w="12700">
            <a:solidFill>
              <a:srgbClr val="013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4681728" y="1371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4910328" y="1865376"/>
            <a:ext cx="91440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4754880" y="1956816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Processing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773168" y="2505456"/>
            <a:ext cx="1188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generates insights &amp; recommendations</a:t>
            </a:r>
            <a:endParaRPr lang="en-US" sz="95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616" y="2665476"/>
            <a:ext cx="201168" cy="329184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6272784" y="1207008"/>
            <a:ext cx="1371600" cy="324612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6272784" y="1371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0" name="Shape 24"/>
          <p:cNvSpPr/>
          <p:nvPr/>
        </p:nvSpPr>
        <p:spPr>
          <a:xfrm>
            <a:off x="6501384" y="1865376"/>
            <a:ext cx="91440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6345936" y="1956816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Display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6364224" y="2505456"/>
            <a:ext cx="1188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shown with statistics &amp; visualizations</a:t>
            </a:r>
            <a:endParaRPr lang="en-US" sz="95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672" y="2665476"/>
            <a:ext cx="201168" cy="329184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7863840" y="1207008"/>
            <a:ext cx="1371600" cy="3246120"/>
          </a:xfrm>
          <a:prstGeom prst="roundRect">
            <a:avLst>
              <a:gd name="adj" fmla="val 8000"/>
            </a:avLst>
          </a:prstGeom>
          <a:solidFill>
            <a:srgbClr val="013B47"/>
          </a:solidFill>
          <a:ln w="12700">
            <a:solidFill>
              <a:srgbClr val="013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7863840" y="1371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36" name="Shape 29"/>
          <p:cNvSpPr/>
          <p:nvPr/>
        </p:nvSpPr>
        <p:spPr>
          <a:xfrm>
            <a:off x="8092440" y="1865376"/>
            <a:ext cx="91440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0"/>
          <p:cNvSpPr/>
          <p:nvPr/>
        </p:nvSpPr>
        <p:spPr>
          <a:xfrm>
            <a:off x="7936992" y="1956816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7955280" y="2505456"/>
            <a:ext cx="1188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downloadable report generated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Demonstration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8E8EE"/>
                </a:solidFill>
              </a:rPr>
              <a:t>06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3840480" cy="3794760"/>
          </a:xfrm>
          <a:prstGeom prst="roundRect">
            <a:avLst>
              <a:gd name="adj" fmla="val 337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20700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STEPS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Previous Policy PDF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157984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1579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21579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Updated Policy PDF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670048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670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26700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"Analyze Policies"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182112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1821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31821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policy statistics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694176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6941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" y="36941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AI-generated insights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206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" y="4206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PDF report</a:t>
            </a:r>
          </a:p>
          <a:p>
            <a:r>
              <a:rPr lang="en-US" sz="1150" dirty="0"/>
              <a:t>http://localhost:5173/</a:t>
            </a:r>
          </a:p>
        </p:txBody>
      </p:sp>
      <p:sp>
        <p:nvSpPr>
          <p:cNvPr id="25" name="Shape 23"/>
          <p:cNvSpPr/>
          <p:nvPr/>
        </p:nvSpPr>
        <p:spPr>
          <a:xfrm>
            <a:off x="4434840" y="1115568"/>
            <a:ext cx="2240280" cy="1645920"/>
          </a:xfrm>
          <a:prstGeom prst="roundRect">
            <a:avLst>
              <a:gd name="adj" fmla="val 5556"/>
            </a:avLst>
          </a:prstGeom>
          <a:solidFill>
            <a:srgbClr val="0A234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434840" y="14813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📸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526280" y="207568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12280" y="1115568"/>
            <a:ext cx="2240280" cy="1645920"/>
          </a:xfrm>
          <a:prstGeom prst="roundRect">
            <a:avLst>
              <a:gd name="adj" fmla="val 5556"/>
            </a:avLst>
          </a:prstGeom>
          <a:solidFill>
            <a:srgbClr val="013B4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12280" y="14813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📸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903720" y="207568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Dashboard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434840" y="2944368"/>
            <a:ext cx="2240280" cy="1645920"/>
          </a:xfrm>
          <a:prstGeom prst="roundRect">
            <a:avLst>
              <a:gd name="adj" fmla="val 5556"/>
            </a:avLst>
          </a:prstGeom>
          <a:solidFill>
            <a:srgbClr val="0A234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434840" y="33101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📸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526280" y="390448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Summary Panel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812280" y="2944368"/>
            <a:ext cx="2240280" cy="1645920"/>
          </a:xfrm>
          <a:prstGeom prst="roundRect">
            <a:avLst>
              <a:gd name="adj" fmla="val 5556"/>
            </a:avLst>
          </a:prstGeom>
          <a:solidFill>
            <a:srgbClr val="013B4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812280" y="33101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📸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903720" y="390448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PDF Report</a:t>
            </a:r>
            <a:endParaRPr lang="en-US" sz="105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03484484-AC6E-2FE6-0DB1-CFA189252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79" y="1145286"/>
            <a:ext cx="2057401" cy="1586484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B47F0BE-CC3C-CD76-787A-BB621A9EA2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350" y="1163450"/>
            <a:ext cx="2139975" cy="155760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4436D800-4B00-7CC3-5825-E2D20AE28D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2990088"/>
            <a:ext cx="2331720" cy="1478567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807F6392-D3AB-EFFF-BD97-4697F0F124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6349" y="3028044"/>
            <a:ext cx="2139975" cy="14785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795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Capabilities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92608" y="1170432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013B47"/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40764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0976" y="1316736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950976" y="1664208"/>
            <a:ext cx="1901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or browse to upload policy documents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035808" y="1170432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013B47"/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540764"/>
            <a:ext cx="402336" cy="402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94176" y="1316736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3694176" y="1664208"/>
            <a:ext cx="1901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extraction — no manual handling needed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779008" y="1170432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013B47"/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1540764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37376" y="1316736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Detection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6437376" y="1664208"/>
            <a:ext cx="1901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additions and removals identification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292608" y="2441448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013B47"/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811780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50976" y="258775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950976" y="2935224"/>
            <a:ext cx="1901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overview of policy landscape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3035808" y="2441448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013B47"/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2811780"/>
            <a:ext cx="402336" cy="40233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694176" y="258775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3694176" y="2935224"/>
            <a:ext cx="1901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impact analysis with recommendations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5779008" y="2441448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013B47"/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0" y="2811780"/>
            <a:ext cx="402336" cy="40233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437376" y="258775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6437376" y="2935224"/>
            <a:ext cx="1901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next steps powered by Gemini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292608" y="3712464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013B47"/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082796"/>
            <a:ext cx="402336" cy="402336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50976" y="385876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150" dirty="0"/>
          </a:p>
        </p:txBody>
      </p:sp>
      <p:sp>
        <p:nvSpPr>
          <p:cNvPr id="31" name="Text 22"/>
          <p:cNvSpPr/>
          <p:nvPr/>
        </p:nvSpPr>
        <p:spPr>
          <a:xfrm>
            <a:off x="950976" y="4206240"/>
            <a:ext cx="1901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and visualizations at a glance</a:t>
            </a:r>
            <a:endParaRPr lang="en-US" sz="950" dirty="0"/>
          </a:p>
        </p:txBody>
      </p:sp>
      <p:sp>
        <p:nvSpPr>
          <p:cNvPr id="32" name="Shape 23"/>
          <p:cNvSpPr/>
          <p:nvPr/>
        </p:nvSpPr>
        <p:spPr>
          <a:xfrm>
            <a:off x="3035808" y="3712464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013B47"/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0" y="4082796"/>
            <a:ext cx="402336" cy="402336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3694176" y="385876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</a:t>
            </a:r>
            <a:endParaRPr lang="en-US" sz="1150" dirty="0"/>
          </a:p>
        </p:txBody>
      </p:sp>
      <p:sp>
        <p:nvSpPr>
          <p:cNvPr id="35" name="Text 25"/>
          <p:cNvSpPr/>
          <p:nvPr/>
        </p:nvSpPr>
        <p:spPr>
          <a:xfrm>
            <a:off x="3694176" y="4206240"/>
            <a:ext cx="1901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professional analysis report</a:t>
            </a:r>
            <a:endParaRPr lang="en-US" sz="950" dirty="0"/>
          </a:p>
        </p:txBody>
      </p:sp>
      <p:sp>
        <p:nvSpPr>
          <p:cNvPr id="36" name="Shape 26"/>
          <p:cNvSpPr/>
          <p:nvPr/>
        </p:nvSpPr>
        <p:spPr>
          <a:xfrm>
            <a:off x="5779008" y="3712464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013B47"/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43600" y="4082796"/>
            <a:ext cx="402336" cy="402336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6437376" y="385876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</a:t>
            </a:r>
            <a:endParaRPr lang="en-US" sz="1150" dirty="0"/>
          </a:p>
        </p:txBody>
      </p:sp>
      <p:sp>
        <p:nvSpPr>
          <p:cNvPr id="39" name="Text 28"/>
          <p:cNvSpPr/>
          <p:nvPr/>
        </p:nvSpPr>
        <p:spPr>
          <a:xfrm>
            <a:off x="6437376" y="4206240"/>
            <a:ext cx="1901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seamlessly across desktop and mobile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Value for Cotiviti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8E8EE"/>
                </a:solidFill>
              </a:rPr>
              <a:t>08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92608" y="1097280"/>
            <a:ext cx="2697480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41732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42416" y="128016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Policy Review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9768" y="202996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comparison replaces hours of manual document reading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099816" y="1097280"/>
            <a:ext cx="2697480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64408" y="1353312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8416" y="141732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49624" y="128016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Accuracy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236976" y="202996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diff detection reduces the risk of overlooked changes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907024" y="1097280"/>
            <a:ext cx="2697480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071616" y="1353312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5624" y="141732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56832" y="128016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Effort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044184" y="202996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focus on decisions, not document hunting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292608" y="2807208"/>
            <a:ext cx="2697480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57200" y="3063240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" y="3127248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42416" y="2990088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Efficiency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29768" y="373989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analysis completed in a single workflow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099816" y="2807208"/>
            <a:ext cx="2697480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3264408" y="3063240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8416" y="3127248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49624" y="2990088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Reporting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3236976" y="373989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PDF output across every policy comparison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5907024" y="2807208"/>
            <a:ext cx="2697480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6071616" y="3063240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35624" y="3127248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656832" y="2990088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Decision Support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6044184" y="373989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Gemini-generated insights help analysts act with confidence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795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|  Roadmap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92608" y="1143000"/>
            <a:ext cx="2779776" cy="3749040"/>
          </a:xfrm>
          <a:prstGeom prst="roundRect">
            <a:avLst>
              <a:gd name="adj" fmla="val 460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07592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Near Term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450592" cy="27432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20574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9536" y="201168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support for scanned documents</a:t>
            </a:r>
            <a:endParaRPr lang="en-US" sz="11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292608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9536" y="288036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 &amp; access control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292608" y="4251960"/>
            <a:ext cx="2779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12" name="Shape 8"/>
          <p:cNvSpPr/>
          <p:nvPr/>
        </p:nvSpPr>
        <p:spPr>
          <a:xfrm>
            <a:off x="3273552" y="1143000"/>
            <a:ext cx="2779776" cy="3749040"/>
          </a:xfrm>
          <a:prstGeom prst="roundRect">
            <a:avLst>
              <a:gd name="adj" fmla="val 4605"/>
            </a:avLst>
          </a:prstGeom>
          <a:solidFill>
            <a:srgbClr val="0474A0"/>
          </a:solidFill>
          <a:ln w="12700">
            <a:solidFill>
              <a:srgbClr val="047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438144" y="1307592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Mid Term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438144" y="1828800"/>
            <a:ext cx="2450592" cy="27432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205740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840480" y="201168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</a:t>
            </a:r>
            <a:endParaRPr lang="en-US" sz="11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292608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840480" y="288036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version history</a:t>
            </a:r>
            <a:endParaRPr lang="en-US" sz="11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3794760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840480" y="374904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analytics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3273552" y="4251960"/>
            <a:ext cx="2779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22" name="Shape 15"/>
          <p:cNvSpPr/>
          <p:nvPr/>
        </p:nvSpPr>
        <p:spPr>
          <a:xfrm>
            <a:off x="6254496" y="1143000"/>
            <a:ext cx="2779776" cy="3749040"/>
          </a:xfrm>
          <a:prstGeom prst="roundRect">
            <a:avLst>
              <a:gd name="adj" fmla="val 4605"/>
            </a:avLst>
          </a:prstGeom>
          <a:solidFill>
            <a:srgbClr val="013B47"/>
          </a:solidFill>
          <a:ln w="12700">
            <a:solidFill>
              <a:srgbClr val="013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6"/>
          <p:cNvSpPr/>
          <p:nvPr/>
        </p:nvSpPr>
        <p:spPr>
          <a:xfrm>
            <a:off x="6419088" y="1307592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Long Term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419088" y="1828800"/>
            <a:ext cx="2450592" cy="27432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2057400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21424" y="201168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risk assessment</a:t>
            </a:r>
            <a:endParaRPr lang="en-US" sz="115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2926080"/>
            <a:ext cx="274320" cy="27432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821424" y="288036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management system integration</a:t>
            </a:r>
            <a:endParaRPr lang="en-US" sz="1150" dirty="0"/>
          </a:p>
        </p:txBody>
      </p:sp>
      <p:sp>
        <p:nvSpPr>
          <p:cNvPr id="29" name="Text 20"/>
          <p:cNvSpPr/>
          <p:nvPr/>
        </p:nvSpPr>
        <p:spPr>
          <a:xfrm>
            <a:off x="6254496" y="4251960"/>
            <a:ext cx="2779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457200"/>
            <a:ext cx="4572000" cy="45720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914400"/>
            <a:ext cx="3200400" cy="3200400"/>
          </a:xfrm>
          <a:prstGeom prst="ellipse">
            <a:avLst/>
          </a:prstGeom>
          <a:solidFill>
            <a:srgbClr val="02C39A">
              <a:alpha val="10000"/>
            </a:srgbClr>
          </a:solidFill>
          <a:ln w="12700">
            <a:solidFill>
              <a:srgbClr val="02C39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411480"/>
            <a:ext cx="2286000" cy="329184"/>
          </a:xfrm>
          <a:prstGeom prst="roundRect">
            <a:avLst>
              <a:gd name="adj" fmla="val 33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CONCLUSION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Matrix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Simplifying Healthcare Policy Analysis with AI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450592"/>
            <a:ext cx="22860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633472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2606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policy comparison end-to-end</a:t>
            </a:r>
            <a:endParaRPr lang="en-US" sz="12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09067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" y="3063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intelligent AI-powered summaries</a:t>
            </a:r>
            <a:endParaRPr lang="en-US" sz="12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54787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868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operational efficiency significantly</a:t>
            </a:r>
            <a:endParaRPr lang="en-US" sz="12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05072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868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healthcare decision-making at scale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502920" y="4315968"/>
            <a:ext cx="4206240" cy="658368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502920" y="431596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r>
              <a:rPr lang="en-US" sz="1400" dirty="0">
                <a:solidFill>
                  <a:srgbClr val="C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553</Words>
  <Application>Microsoft Office PowerPoint</Application>
  <PresentationFormat>On-screen Show (16:9)</PresentationFormat>
  <Paragraphs>168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Policy Matrix</dc:title>
  <dc:subject>PptxGenJS Presentation</dc:subject>
  <dc:creator>Akshay Reddy</dc:creator>
  <cp:lastModifiedBy>Vellulla, Rakshith</cp:lastModifiedBy>
  <cp:revision>3</cp:revision>
  <dcterms:created xsi:type="dcterms:W3CDTF">2026-06-27T16:15:36Z</dcterms:created>
  <dcterms:modified xsi:type="dcterms:W3CDTF">2026-06-27T16:38:03Z</dcterms:modified>
</cp:coreProperties>
</file>